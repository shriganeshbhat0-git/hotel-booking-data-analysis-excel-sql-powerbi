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8" r:id="rId2"/>
    <p:sldId id="256" r:id="rId3"/>
    <p:sldId id="257" r:id="rId4"/>
    <p:sldId id="259" r:id="rId5"/>
    <p:sldId id="260" r:id="rId6"/>
    <p:sldId id="261" r:id="rId7"/>
    <p:sldId id="263" r:id="rId8"/>
    <p:sldId id="262" r:id="rId9"/>
    <p:sldId id="264" r:id="rId10"/>
    <p:sldId id="265" r:id="rId11"/>
    <p:sldId id="266" r:id="rId12"/>
    <p:sldId id="267" r:id="rId13"/>
    <p:sldId id="269" r:id="rId14"/>
    <p:sldId id="268"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884815-C76C-C197-7DEC-A462F7F721C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AF6D3285-1DD6-46F4-687D-98C5174FFF6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019AE555-0591-329F-9BCE-3BEF56C00BB1}"/>
              </a:ext>
            </a:extLst>
          </p:cNvPr>
          <p:cNvSpPr>
            <a:spLocks noGrp="1"/>
          </p:cNvSpPr>
          <p:nvPr>
            <p:ph type="dt" sz="half" idx="10"/>
          </p:nvPr>
        </p:nvSpPr>
        <p:spPr/>
        <p:txBody>
          <a:bodyPr/>
          <a:lstStyle/>
          <a:p>
            <a:fld id="{9577CD4B-49BB-48E1-BF51-C2111806B570}" type="datetimeFigureOut">
              <a:rPr lang="en-IN" smtClean="0"/>
              <a:t>02-12-2025</a:t>
            </a:fld>
            <a:endParaRPr lang="en-IN"/>
          </a:p>
        </p:txBody>
      </p:sp>
      <p:sp>
        <p:nvSpPr>
          <p:cNvPr id="5" name="Footer Placeholder 4">
            <a:extLst>
              <a:ext uri="{FF2B5EF4-FFF2-40B4-BE49-F238E27FC236}">
                <a16:creationId xmlns:a16="http://schemas.microsoft.com/office/drawing/2014/main" id="{47EF5750-132A-ADFF-BA9F-F3BEDAEC95A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4835829-D549-99A5-98DC-FEC1E9FDAFEA}"/>
              </a:ext>
            </a:extLst>
          </p:cNvPr>
          <p:cNvSpPr>
            <a:spLocks noGrp="1"/>
          </p:cNvSpPr>
          <p:nvPr>
            <p:ph type="sldNum" sz="quarter" idx="12"/>
          </p:nvPr>
        </p:nvSpPr>
        <p:spPr/>
        <p:txBody>
          <a:bodyPr/>
          <a:lstStyle/>
          <a:p>
            <a:fld id="{B26D82E3-BEE4-46CF-97D1-48641BD999B2}" type="slidenum">
              <a:rPr lang="en-IN" smtClean="0"/>
              <a:t>‹#›</a:t>
            </a:fld>
            <a:endParaRPr lang="en-IN"/>
          </a:p>
        </p:txBody>
      </p:sp>
    </p:spTree>
    <p:extLst>
      <p:ext uri="{BB962C8B-B14F-4D97-AF65-F5344CB8AC3E}">
        <p14:creationId xmlns:p14="http://schemas.microsoft.com/office/powerpoint/2010/main" val="35516971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D7ED8D-EF2C-DEE0-464A-A71B7F42DAD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D88468F-E3BB-BCF2-6D9A-D5AAB76815D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EE91960-EF28-ED5A-3B9E-92AE9A3270D8}"/>
              </a:ext>
            </a:extLst>
          </p:cNvPr>
          <p:cNvSpPr>
            <a:spLocks noGrp="1"/>
          </p:cNvSpPr>
          <p:nvPr>
            <p:ph type="dt" sz="half" idx="10"/>
          </p:nvPr>
        </p:nvSpPr>
        <p:spPr/>
        <p:txBody>
          <a:bodyPr/>
          <a:lstStyle/>
          <a:p>
            <a:fld id="{9577CD4B-49BB-48E1-BF51-C2111806B570}" type="datetimeFigureOut">
              <a:rPr lang="en-IN" smtClean="0"/>
              <a:t>02-12-2025</a:t>
            </a:fld>
            <a:endParaRPr lang="en-IN"/>
          </a:p>
        </p:txBody>
      </p:sp>
      <p:sp>
        <p:nvSpPr>
          <p:cNvPr id="5" name="Footer Placeholder 4">
            <a:extLst>
              <a:ext uri="{FF2B5EF4-FFF2-40B4-BE49-F238E27FC236}">
                <a16:creationId xmlns:a16="http://schemas.microsoft.com/office/drawing/2014/main" id="{F36E2178-0C5C-6A6F-DF00-7A80B730027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4B63350-3191-836E-FE44-438E1E65089B}"/>
              </a:ext>
            </a:extLst>
          </p:cNvPr>
          <p:cNvSpPr>
            <a:spLocks noGrp="1"/>
          </p:cNvSpPr>
          <p:nvPr>
            <p:ph type="sldNum" sz="quarter" idx="12"/>
          </p:nvPr>
        </p:nvSpPr>
        <p:spPr/>
        <p:txBody>
          <a:bodyPr/>
          <a:lstStyle/>
          <a:p>
            <a:fld id="{B26D82E3-BEE4-46CF-97D1-48641BD999B2}" type="slidenum">
              <a:rPr lang="en-IN" smtClean="0"/>
              <a:t>‹#›</a:t>
            </a:fld>
            <a:endParaRPr lang="en-IN"/>
          </a:p>
        </p:txBody>
      </p:sp>
    </p:spTree>
    <p:extLst>
      <p:ext uri="{BB962C8B-B14F-4D97-AF65-F5344CB8AC3E}">
        <p14:creationId xmlns:p14="http://schemas.microsoft.com/office/powerpoint/2010/main" val="11180573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4007B7-FB98-071B-2FE8-519822CC78B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FF90F3C5-5642-14D9-44DB-1E9A3328410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7213FF9-EFED-4F15-E049-5E6662277C84}"/>
              </a:ext>
            </a:extLst>
          </p:cNvPr>
          <p:cNvSpPr>
            <a:spLocks noGrp="1"/>
          </p:cNvSpPr>
          <p:nvPr>
            <p:ph type="dt" sz="half" idx="10"/>
          </p:nvPr>
        </p:nvSpPr>
        <p:spPr/>
        <p:txBody>
          <a:bodyPr/>
          <a:lstStyle/>
          <a:p>
            <a:fld id="{9577CD4B-49BB-48E1-BF51-C2111806B570}" type="datetimeFigureOut">
              <a:rPr lang="en-IN" smtClean="0"/>
              <a:t>02-12-2025</a:t>
            </a:fld>
            <a:endParaRPr lang="en-IN"/>
          </a:p>
        </p:txBody>
      </p:sp>
      <p:sp>
        <p:nvSpPr>
          <p:cNvPr id="5" name="Footer Placeholder 4">
            <a:extLst>
              <a:ext uri="{FF2B5EF4-FFF2-40B4-BE49-F238E27FC236}">
                <a16:creationId xmlns:a16="http://schemas.microsoft.com/office/drawing/2014/main" id="{EC14E63C-5309-94F1-78A3-AF487482E69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7B6FC11-29A6-192F-52F4-91B37A8E2C7B}"/>
              </a:ext>
            </a:extLst>
          </p:cNvPr>
          <p:cNvSpPr>
            <a:spLocks noGrp="1"/>
          </p:cNvSpPr>
          <p:nvPr>
            <p:ph type="sldNum" sz="quarter" idx="12"/>
          </p:nvPr>
        </p:nvSpPr>
        <p:spPr/>
        <p:txBody>
          <a:bodyPr/>
          <a:lstStyle/>
          <a:p>
            <a:fld id="{B26D82E3-BEE4-46CF-97D1-48641BD999B2}" type="slidenum">
              <a:rPr lang="en-IN" smtClean="0"/>
              <a:t>‹#›</a:t>
            </a:fld>
            <a:endParaRPr lang="en-IN"/>
          </a:p>
        </p:txBody>
      </p:sp>
    </p:spTree>
    <p:extLst>
      <p:ext uri="{BB962C8B-B14F-4D97-AF65-F5344CB8AC3E}">
        <p14:creationId xmlns:p14="http://schemas.microsoft.com/office/powerpoint/2010/main" val="35971853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543F60-7165-DEDE-1610-0DCEBDD8662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3C0D794-BC98-1CF9-43D9-9EAFA50BC96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8FB24FBD-9577-8212-E437-FA1EDECE99E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916AF9E6-FF44-1A2E-37C0-A23A6929DCF6}"/>
              </a:ext>
            </a:extLst>
          </p:cNvPr>
          <p:cNvSpPr>
            <a:spLocks noGrp="1"/>
          </p:cNvSpPr>
          <p:nvPr>
            <p:ph type="dt" sz="half" idx="10"/>
          </p:nvPr>
        </p:nvSpPr>
        <p:spPr/>
        <p:txBody>
          <a:bodyPr/>
          <a:lstStyle/>
          <a:p>
            <a:fld id="{9577CD4B-49BB-48E1-BF51-C2111806B570}" type="datetimeFigureOut">
              <a:rPr lang="en-IN" smtClean="0"/>
              <a:t>02-12-2025</a:t>
            </a:fld>
            <a:endParaRPr lang="en-IN"/>
          </a:p>
        </p:txBody>
      </p:sp>
      <p:sp>
        <p:nvSpPr>
          <p:cNvPr id="6" name="Footer Placeholder 5">
            <a:extLst>
              <a:ext uri="{FF2B5EF4-FFF2-40B4-BE49-F238E27FC236}">
                <a16:creationId xmlns:a16="http://schemas.microsoft.com/office/drawing/2014/main" id="{4695E480-1E24-1801-62F4-7201E85E55A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824783D-9CA2-5E56-5749-0AE5423CF3F8}"/>
              </a:ext>
            </a:extLst>
          </p:cNvPr>
          <p:cNvSpPr>
            <a:spLocks noGrp="1"/>
          </p:cNvSpPr>
          <p:nvPr>
            <p:ph type="sldNum" sz="quarter" idx="12"/>
          </p:nvPr>
        </p:nvSpPr>
        <p:spPr/>
        <p:txBody>
          <a:bodyPr/>
          <a:lstStyle/>
          <a:p>
            <a:fld id="{B26D82E3-BEE4-46CF-97D1-48641BD999B2}" type="slidenum">
              <a:rPr lang="en-IN" smtClean="0"/>
              <a:t>‹#›</a:t>
            </a:fld>
            <a:endParaRPr lang="en-IN"/>
          </a:p>
        </p:txBody>
      </p:sp>
    </p:spTree>
    <p:extLst>
      <p:ext uri="{BB962C8B-B14F-4D97-AF65-F5344CB8AC3E}">
        <p14:creationId xmlns:p14="http://schemas.microsoft.com/office/powerpoint/2010/main" val="39437272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58E1B9-2C31-0CCA-563E-C72106A874D2}"/>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B079738-AC15-3C27-B8D1-261F0CEE285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1A510DB-C6D5-73C6-0F54-CD288304E27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F5DA9102-EA9F-D813-18A6-92B7A4497F9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2F4FF3D-737F-4408-443D-0417203C924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87E12BB5-5E80-F771-F36D-3FFEF7D9685E}"/>
              </a:ext>
            </a:extLst>
          </p:cNvPr>
          <p:cNvSpPr>
            <a:spLocks noGrp="1"/>
          </p:cNvSpPr>
          <p:nvPr>
            <p:ph type="dt" sz="half" idx="10"/>
          </p:nvPr>
        </p:nvSpPr>
        <p:spPr/>
        <p:txBody>
          <a:bodyPr/>
          <a:lstStyle/>
          <a:p>
            <a:fld id="{9577CD4B-49BB-48E1-BF51-C2111806B570}" type="datetimeFigureOut">
              <a:rPr lang="en-IN" smtClean="0"/>
              <a:t>02-12-2025</a:t>
            </a:fld>
            <a:endParaRPr lang="en-IN"/>
          </a:p>
        </p:txBody>
      </p:sp>
      <p:sp>
        <p:nvSpPr>
          <p:cNvPr id="8" name="Footer Placeholder 7">
            <a:extLst>
              <a:ext uri="{FF2B5EF4-FFF2-40B4-BE49-F238E27FC236}">
                <a16:creationId xmlns:a16="http://schemas.microsoft.com/office/drawing/2014/main" id="{EB1FC843-1E01-95E2-D3D7-99FF3EAB5A77}"/>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86118A7D-9702-6700-7C55-5C4F8D2CAE4B}"/>
              </a:ext>
            </a:extLst>
          </p:cNvPr>
          <p:cNvSpPr>
            <a:spLocks noGrp="1"/>
          </p:cNvSpPr>
          <p:nvPr>
            <p:ph type="sldNum" sz="quarter" idx="12"/>
          </p:nvPr>
        </p:nvSpPr>
        <p:spPr/>
        <p:txBody>
          <a:bodyPr/>
          <a:lstStyle/>
          <a:p>
            <a:fld id="{B26D82E3-BEE4-46CF-97D1-48641BD999B2}" type="slidenum">
              <a:rPr lang="en-IN" smtClean="0"/>
              <a:t>‹#›</a:t>
            </a:fld>
            <a:endParaRPr lang="en-IN"/>
          </a:p>
        </p:txBody>
      </p:sp>
    </p:spTree>
    <p:extLst>
      <p:ext uri="{BB962C8B-B14F-4D97-AF65-F5344CB8AC3E}">
        <p14:creationId xmlns:p14="http://schemas.microsoft.com/office/powerpoint/2010/main" val="14335483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8B41C2-DCF9-26BC-F7FE-2DFF3E55895C}"/>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F39DD144-E6C1-4397-0AFB-C6FAEADE5904}"/>
              </a:ext>
            </a:extLst>
          </p:cNvPr>
          <p:cNvSpPr>
            <a:spLocks noGrp="1"/>
          </p:cNvSpPr>
          <p:nvPr>
            <p:ph type="dt" sz="half" idx="10"/>
          </p:nvPr>
        </p:nvSpPr>
        <p:spPr/>
        <p:txBody>
          <a:bodyPr/>
          <a:lstStyle/>
          <a:p>
            <a:fld id="{9577CD4B-49BB-48E1-BF51-C2111806B570}" type="datetimeFigureOut">
              <a:rPr lang="en-IN" smtClean="0"/>
              <a:t>02-12-2025</a:t>
            </a:fld>
            <a:endParaRPr lang="en-IN"/>
          </a:p>
        </p:txBody>
      </p:sp>
      <p:sp>
        <p:nvSpPr>
          <p:cNvPr id="4" name="Footer Placeholder 3">
            <a:extLst>
              <a:ext uri="{FF2B5EF4-FFF2-40B4-BE49-F238E27FC236}">
                <a16:creationId xmlns:a16="http://schemas.microsoft.com/office/drawing/2014/main" id="{D2780392-2996-8F32-018A-2956149057CB}"/>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098E2221-BDC4-8DC1-A02D-72B25476C9CB}"/>
              </a:ext>
            </a:extLst>
          </p:cNvPr>
          <p:cNvSpPr>
            <a:spLocks noGrp="1"/>
          </p:cNvSpPr>
          <p:nvPr>
            <p:ph type="sldNum" sz="quarter" idx="12"/>
          </p:nvPr>
        </p:nvSpPr>
        <p:spPr/>
        <p:txBody>
          <a:bodyPr/>
          <a:lstStyle/>
          <a:p>
            <a:fld id="{B26D82E3-BEE4-46CF-97D1-48641BD999B2}" type="slidenum">
              <a:rPr lang="en-IN" smtClean="0"/>
              <a:t>‹#›</a:t>
            </a:fld>
            <a:endParaRPr lang="en-IN"/>
          </a:p>
        </p:txBody>
      </p:sp>
    </p:spTree>
    <p:extLst>
      <p:ext uri="{BB962C8B-B14F-4D97-AF65-F5344CB8AC3E}">
        <p14:creationId xmlns:p14="http://schemas.microsoft.com/office/powerpoint/2010/main" val="35775730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4E65C40-C4DC-207D-6085-B9C85B9CB582}"/>
              </a:ext>
            </a:extLst>
          </p:cNvPr>
          <p:cNvSpPr>
            <a:spLocks noGrp="1"/>
          </p:cNvSpPr>
          <p:nvPr>
            <p:ph type="dt" sz="half" idx="10"/>
          </p:nvPr>
        </p:nvSpPr>
        <p:spPr/>
        <p:txBody>
          <a:bodyPr/>
          <a:lstStyle/>
          <a:p>
            <a:fld id="{9577CD4B-49BB-48E1-BF51-C2111806B570}" type="datetimeFigureOut">
              <a:rPr lang="en-IN" smtClean="0"/>
              <a:t>02-12-2025</a:t>
            </a:fld>
            <a:endParaRPr lang="en-IN"/>
          </a:p>
        </p:txBody>
      </p:sp>
      <p:sp>
        <p:nvSpPr>
          <p:cNvPr id="3" name="Footer Placeholder 2">
            <a:extLst>
              <a:ext uri="{FF2B5EF4-FFF2-40B4-BE49-F238E27FC236}">
                <a16:creationId xmlns:a16="http://schemas.microsoft.com/office/drawing/2014/main" id="{DF70C99D-83E0-A176-DD24-0C0E3621BBCF}"/>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DEDCBD9D-2A78-43A3-9F34-A02D5F6BFB94}"/>
              </a:ext>
            </a:extLst>
          </p:cNvPr>
          <p:cNvSpPr>
            <a:spLocks noGrp="1"/>
          </p:cNvSpPr>
          <p:nvPr>
            <p:ph type="sldNum" sz="quarter" idx="12"/>
          </p:nvPr>
        </p:nvSpPr>
        <p:spPr/>
        <p:txBody>
          <a:bodyPr/>
          <a:lstStyle/>
          <a:p>
            <a:fld id="{B26D82E3-BEE4-46CF-97D1-48641BD999B2}" type="slidenum">
              <a:rPr lang="en-IN" smtClean="0"/>
              <a:t>‹#›</a:t>
            </a:fld>
            <a:endParaRPr lang="en-IN"/>
          </a:p>
        </p:txBody>
      </p:sp>
    </p:spTree>
    <p:extLst>
      <p:ext uri="{BB962C8B-B14F-4D97-AF65-F5344CB8AC3E}">
        <p14:creationId xmlns:p14="http://schemas.microsoft.com/office/powerpoint/2010/main" val="2077030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15C386-98A7-52D6-CF44-A2BD8C4FE0E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94BF89E5-6730-2373-A7C5-F78083DEBD8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C186142E-6C2B-10C7-6785-B34A3C91389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B76D275-5B47-FDA9-8A42-2638B67548EC}"/>
              </a:ext>
            </a:extLst>
          </p:cNvPr>
          <p:cNvSpPr>
            <a:spLocks noGrp="1"/>
          </p:cNvSpPr>
          <p:nvPr>
            <p:ph type="dt" sz="half" idx="10"/>
          </p:nvPr>
        </p:nvSpPr>
        <p:spPr/>
        <p:txBody>
          <a:bodyPr/>
          <a:lstStyle/>
          <a:p>
            <a:fld id="{9577CD4B-49BB-48E1-BF51-C2111806B570}" type="datetimeFigureOut">
              <a:rPr lang="en-IN" smtClean="0"/>
              <a:t>02-12-2025</a:t>
            </a:fld>
            <a:endParaRPr lang="en-IN"/>
          </a:p>
        </p:txBody>
      </p:sp>
      <p:sp>
        <p:nvSpPr>
          <p:cNvPr id="6" name="Footer Placeholder 5">
            <a:extLst>
              <a:ext uri="{FF2B5EF4-FFF2-40B4-BE49-F238E27FC236}">
                <a16:creationId xmlns:a16="http://schemas.microsoft.com/office/drawing/2014/main" id="{FCC8A4C4-EECA-86C6-F84D-E507E0D9CE3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3FDBD47-024A-E22C-B02C-D78B450A8D18}"/>
              </a:ext>
            </a:extLst>
          </p:cNvPr>
          <p:cNvSpPr>
            <a:spLocks noGrp="1"/>
          </p:cNvSpPr>
          <p:nvPr>
            <p:ph type="sldNum" sz="quarter" idx="12"/>
          </p:nvPr>
        </p:nvSpPr>
        <p:spPr/>
        <p:txBody>
          <a:bodyPr/>
          <a:lstStyle/>
          <a:p>
            <a:fld id="{B26D82E3-BEE4-46CF-97D1-48641BD999B2}" type="slidenum">
              <a:rPr lang="en-IN" smtClean="0"/>
              <a:t>‹#›</a:t>
            </a:fld>
            <a:endParaRPr lang="en-IN"/>
          </a:p>
        </p:txBody>
      </p:sp>
    </p:spTree>
    <p:extLst>
      <p:ext uri="{BB962C8B-B14F-4D97-AF65-F5344CB8AC3E}">
        <p14:creationId xmlns:p14="http://schemas.microsoft.com/office/powerpoint/2010/main" val="29527245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DBE4F9-7B23-0193-611B-AD93479BE5A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56E3904C-0ADC-5BBE-8334-832E42D35AA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D28F5903-F682-2A07-8FBC-7F3CD7C29DA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11F2B53-3A9F-A54E-1789-C09F6DF9BD44}"/>
              </a:ext>
            </a:extLst>
          </p:cNvPr>
          <p:cNvSpPr>
            <a:spLocks noGrp="1"/>
          </p:cNvSpPr>
          <p:nvPr>
            <p:ph type="dt" sz="half" idx="10"/>
          </p:nvPr>
        </p:nvSpPr>
        <p:spPr/>
        <p:txBody>
          <a:bodyPr/>
          <a:lstStyle/>
          <a:p>
            <a:fld id="{9577CD4B-49BB-48E1-BF51-C2111806B570}" type="datetimeFigureOut">
              <a:rPr lang="en-IN" smtClean="0"/>
              <a:t>02-12-2025</a:t>
            </a:fld>
            <a:endParaRPr lang="en-IN"/>
          </a:p>
        </p:txBody>
      </p:sp>
      <p:sp>
        <p:nvSpPr>
          <p:cNvPr id="6" name="Footer Placeholder 5">
            <a:extLst>
              <a:ext uri="{FF2B5EF4-FFF2-40B4-BE49-F238E27FC236}">
                <a16:creationId xmlns:a16="http://schemas.microsoft.com/office/drawing/2014/main" id="{C1D873AC-3F95-662B-1A99-EA19D661186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7736A51-328A-DA04-DC0D-8ACBE1E22D4F}"/>
              </a:ext>
            </a:extLst>
          </p:cNvPr>
          <p:cNvSpPr>
            <a:spLocks noGrp="1"/>
          </p:cNvSpPr>
          <p:nvPr>
            <p:ph type="sldNum" sz="quarter" idx="12"/>
          </p:nvPr>
        </p:nvSpPr>
        <p:spPr/>
        <p:txBody>
          <a:bodyPr/>
          <a:lstStyle/>
          <a:p>
            <a:fld id="{B26D82E3-BEE4-46CF-97D1-48641BD999B2}" type="slidenum">
              <a:rPr lang="en-IN" smtClean="0"/>
              <a:t>‹#›</a:t>
            </a:fld>
            <a:endParaRPr lang="en-IN"/>
          </a:p>
        </p:txBody>
      </p:sp>
    </p:spTree>
    <p:extLst>
      <p:ext uri="{BB962C8B-B14F-4D97-AF65-F5344CB8AC3E}">
        <p14:creationId xmlns:p14="http://schemas.microsoft.com/office/powerpoint/2010/main" val="37197989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55C80C-455F-A087-0E0D-F3C64A919D8B}"/>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B609161-0102-57B9-862A-FDF04B00DCD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99E52BB-8B84-63DE-CDB1-E42DB66D9AEC}"/>
              </a:ext>
            </a:extLst>
          </p:cNvPr>
          <p:cNvSpPr>
            <a:spLocks noGrp="1"/>
          </p:cNvSpPr>
          <p:nvPr>
            <p:ph type="dt" sz="half" idx="10"/>
          </p:nvPr>
        </p:nvSpPr>
        <p:spPr/>
        <p:txBody>
          <a:bodyPr/>
          <a:lstStyle/>
          <a:p>
            <a:fld id="{9577CD4B-49BB-48E1-BF51-C2111806B570}" type="datetimeFigureOut">
              <a:rPr lang="en-IN" smtClean="0"/>
              <a:t>02-12-2025</a:t>
            </a:fld>
            <a:endParaRPr lang="en-IN"/>
          </a:p>
        </p:txBody>
      </p:sp>
      <p:sp>
        <p:nvSpPr>
          <p:cNvPr id="5" name="Footer Placeholder 4">
            <a:extLst>
              <a:ext uri="{FF2B5EF4-FFF2-40B4-BE49-F238E27FC236}">
                <a16:creationId xmlns:a16="http://schemas.microsoft.com/office/drawing/2014/main" id="{F9526A15-BC1F-6BD3-20D7-60A09098419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5B4477E-50E6-D872-0966-16F60724D049}"/>
              </a:ext>
            </a:extLst>
          </p:cNvPr>
          <p:cNvSpPr>
            <a:spLocks noGrp="1"/>
          </p:cNvSpPr>
          <p:nvPr>
            <p:ph type="sldNum" sz="quarter" idx="12"/>
          </p:nvPr>
        </p:nvSpPr>
        <p:spPr/>
        <p:txBody>
          <a:bodyPr/>
          <a:lstStyle/>
          <a:p>
            <a:fld id="{B26D82E3-BEE4-46CF-97D1-48641BD999B2}" type="slidenum">
              <a:rPr lang="en-IN" smtClean="0"/>
              <a:t>‹#›</a:t>
            </a:fld>
            <a:endParaRPr lang="en-IN"/>
          </a:p>
        </p:txBody>
      </p:sp>
    </p:spTree>
    <p:extLst>
      <p:ext uri="{BB962C8B-B14F-4D97-AF65-F5344CB8AC3E}">
        <p14:creationId xmlns:p14="http://schemas.microsoft.com/office/powerpoint/2010/main" val="41910872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711E70D-482F-7BF6-E460-C21F1B715E4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08A4484-9DBF-8B66-0F68-359193A015F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01EC0FF-BF65-50EC-E9BB-D47C806A8939}"/>
              </a:ext>
            </a:extLst>
          </p:cNvPr>
          <p:cNvSpPr>
            <a:spLocks noGrp="1"/>
          </p:cNvSpPr>
          <p:nvPr>
            <p:ph type="dt" sz="half" idx="10"/>
          </p:nvPr>
        </p:nvSpPr>
        <p:spPr/>
        <p:txBody>
          <a:bodyPr/>
          <a:lstStyle/>
          <a:p>
            <a:fld id="{9577CD4B-49BB-48E1-BF51-C2111806B570}" type="datetimeFigureOut">
              <a:rPr lang="en-IN" smtClean="0"/>
              <a:t>02-12-2025</a:t>
            </a:fld>
            <a:endParaRPr lang="en-IN"/>
          </a:p>
        </p:txBody>
      </p:sp>
      <p:sp>
        <p:nvSpPr>
          <p:cNvPr id="5" name="Footer Placeholder 4">
            <a:extLst>
              <a:ext uri="{FF2B5EF4-FFF2-40B4-BE49-F238E27FC236}">
                <a16:creationId xmlns:a16="http://schemas.microsoft.com/office/drawing/2014/main" id="{2FC31A22-468A-D9B9-2770-563A9B9C51C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592700D-5419-86E4-590E-010DBD1DC007}"/>
              </a:ext>
            </a:extLst>
          </p:cNvPr>
          <p:cNvSpPr>
            <a:spLocks noGrp="1"/>
          </p:cNvSpPr>
          <p:nvPr>
            <p:ph type="sldNum" sz="quarter" idx="12"/>
          </p:nvPr>
        </p:nvSpPr>
        <p:spPr/>
        <p:txBody>
          <a:bodyPr/>
          <a:lstStyle/>
          <a:p>
            <a:fld id="{B26D82E3-BEE4-46CF-97D1-48641BD999B2}" type="slidenum">
              <a:rPr lang="en-IN" smtClean="0"/>
              <a:t>‹#›</a:t>
            </a:fld>
            <a:endParaRPr lang="en-IN"/>
          </a:p>
        </p:txBody>
      </p:sp>
    </p:spTree>
    <p:extLst>
      <p:ext uri="{BB962C8B-B14F-4D97-AF65-F5344CB8AC3E}">
        <p14:creationId xmlns:p14="http://schemas.microsoft.com/office/powerpoint/2010/main" val="120574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5D3E58B-04CA-F63F-3812-6E1467621D2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FB6C233-0B26-0187-A17C-6D2107AD96C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62E5656-0CB6-59BD-B35E-7E25FF3F7FC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577CD4B-49BB-48E1-BF51-C2111806B570}" type="datetimeFigureOut">
              <a:rPr lang="en-IN" smtClean="0"/>
              <a:t>02-12-2025</a:t>
            </a:fld>
            <a:endParaRPr lang="en-IN"/>
          </a:p>
        </p:txBody>
      </p:sp>
      <p:sp>
        <p:nvSpPr>
          <p:cNvPr id="5" name="Footer Placeholder 4">
            <a:extLst>
              <a:ext uri="{FF2B5EF4-FFF2-40B4-BE49-F238E27FC236}">
                <a16:creationId xmlns:a16="http://schemas.microsoft.com/office/drawing/2014/main" id="{CB5EB0F4-AF8E-680A-50D2-D0AF38E3B59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AC6C1679-BD06-7BAE-7FEA-94FF326BA08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26D82E3-BEE4-46CF-97D1-48641BD999B2}" type="slidenum">
              <a:rPr lang="en-IN" smtClean="0"/>
              <a:t>‹#›</a:t>
            </a:fld>
            <a:endParaRPr lang="en-IN"/>
          </a:p>
        </p:txBody>
      </p:sp>
    </p:spTree>
    <p:extLst>
      <p:ext uri="{BB962C8B-B14F-4D97-AF65-F5344CB8AC3E}">
        <p14:creationId xmlns:p14="http://schemas.microsoft.com/office/powerpoint/2010/main" val="28321084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hyperlink" Target="https://github.com/shriganeshbhat0-git" TargetMode="External"/><Relationship Id="rId2" Type="http://schemas.openxmlformats.org/officeDocument/2006/relationships/hyperlink" Target="https://www.linkedin.com/in/shreeganesh-bhat-8a8184398?utm_source=share&amp;utm_campaign=share_via&amp;utm_content=profile&amp;utm_medium=android_app" TargetMode="Externa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2AE5B7C-C68C-33F8-285B-9326A7289C9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22009" y="300664"/>
            <a:ext cx="7347982" cy="4898655"/>
          </a:xfrm>
          <a:prstGeom prst="rect">
            <a:avLst/>
          </a:prstGeom>
        </p:spPr>
      </p:pic>
      <p:sp>
        <p:nvSpPr>
          <p:cNvPr id="4" name="TextBox 3">
            <a:extLst>
              <a:ext uri="{FF2B5EF4-FFF2-40B4-BE49-F238E27FC236}">
                <a16:creationId xmlns:a16="http://schemas.microsoft.com/office/drawing/2014/main" id="{5EB70E87-86C6-3A37-653E-86D68D28D8AE}"/>
              </a:ext>
            </a:extLst>
          </p:cNvPr>
          <p:cNvSpPr txBox="1"/>
          <p:nvPr/>
        </p:nvSpPr>
        <p:spPr>
          <a:xfrm>
            <a:off x="1690577" y="5475767"/>
            <a:ext cx="11313042" cy="769441"/>
          </a:xfrm>
          <a:prstGeom prst="rect">
            <a:avLst/>
          </a:prstGeom>
          <a:noFill/>
        </p:spPr>
        <p:txBody>
          <a:bodyPr wrap="square" rtlCol="0">
            <a:spAutoFit/>
          </a:bodyPr>
          <a:lstStyle/>
          <a:p>
            <a:r>
              <a:rPr lang="en-US" sz="4400" dirty="0">
                <a:latin typeface="Arial Black" panose="020B0A04020102020204" pitchFamily="34" charset="0"/>
              </a:rPr>
              <a:t>Hotel Booking data Analysis</a:t>
            </a:r>
            <a:endParaRPr lang="en-IN" sz="4400" dirty="0">
              <a:latin typeface="Arial Black" panose="020B0A04020102020204" pitchFamily="34" charset="0"/>
            </a:endParaRPr>
          </a:p>
        </p:txBody>
      </p:sp>
    </p:spTree>
    <p:extLst>
      <p:ext uri="{BB962C8B-B14F-4D97-AF65-F5344CB8AC3E}">
        <p14:creationId xmlns:p14="http://schemas.microsoft.com/office/powerpoint/2010/main" val="17902704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680BD78F-550E-8F86-290D-C6ABF4F0726A}"/>
              </a:ext>
            </a:extLst>
          </p:cNvPr>
          <p:cNvSpPr/>
          <p:nvPr/>
        </p:nvSpPr>
        <p:spPr>
          <a:xfrm>
            <a:off x="393405" y="478464"/>
            <a:ext cx="11398102" cy="5901071"/>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85C0A25E-75BA-7320-9F1D-B889FE1C0829}"/>
              </a:ext>
            </a:extLst>
          </p:cNvPr>
          <p:cNvSpPr>
            <a:spLocks noGrp="1"/>
          </p:cNvSpPr>
          <p:nvPr>
            <p:ph type="ctrTitle" idx="4294967295"/>
          </p:nvPr>
        </p:nvSpPr>
        <p:spPr>
          <a:xfrm>
            <a:off x="508001" y="304800"/>
            <a:ext cx="11108266" cy="5681133"/>
          </a:xfrm>
        </p:spPr>
        <p:txBody>
          <a:bodyPr>
            <a:normAutofit/>
          </a:bodyPr>
          <a:lstStyle/>
          <a:p>
            <a:r>
              <a:rPr lang="en-US" sz="2000" b="1" dirty="0"/>
              <a:t>Hotel Booking Data Analysis Report (2018–2020)</a:t>
            </a:r>
            <a:br>
              <a:rPr lang="en-US" sz="2000" b="1" dirty="0"/>
            </a:br>
            <a:r>
              <a:rPr lang="en-US" sz="2000" b="1" dirty="0"/>
              <a:t>Comprehensive Data Analyst Portfolio Project</a:t>
            </a:r>
            <a:br>
              <a:rPr lang="en-US" sz="2000" b="1" dirty="0"/>
            </a:br>
            <a:r>
              <a:rPr lang="en-US" sz="2000" b="1" dirty="0"/>
              <a:t>Executive Summary</a:t>
            </a:r>
            <a:br>
              <a:rPr lang="en-US" sz="2000" b="1" dirty="0"/>
            </a:br>
            <a:r>
              <a:rPr lang="en-US" sz="2000" dirty="0"/>
              <a:t>This project delivers a complete end-to-end analytical solution using hotel booking data from </a:t>
            </a:r>
            <a:r>
              <a:rPr lang="en-US" sz="2000" b="1" dirty="0"/>
              <a:t>2018 to 2020</a:t>
            </a:r>
            <a:r>
              <a:rPr lang="en-US" sz="2000" dirty="0"/>
              <a:t>, answering core business questions related to </a:t>
            </a:r>
            <a:r>
              <a:rPr lang="en-US" sz="2000" b="1" dirty="0"/>
              <a:t>revenue performance</a:t>
            </a:r>
            <a:r>
              <a:rPr lang="en-US" sz="2000" dirty="0"/>
              <a:t>, </a:t>
            </a:r>
            <a:r>
              <a:rPr lang="en-US" sz="2000" b="1" dirty="0"/>
              <a:t>parking infrastructure planning</a:t>
            </a:r>
            <a:r>
              <a:rPr lang="en-US" sz="2000" dirty="0"/>
              <a:t>, and </a:t>
            </a:r>
            <a:r>
              <a:rPr lang="en-US" sz="2000" b="1" dirty="0"/>
              <a:t>market trends</a:t>
            </a:r>
            <a:r>
              <a:rPr lang="en-US" sz="2000" dirty="0"/>
              <a:t>.</a:t>
            </a:r>
            <a:br>
              <a:rPr lang="en-US" sz="2000" dirty="0"/>
            </a:br>
            <a:r>
              <a:rPr lang="en-US" sz="2000" dirty="0"/>
              <a:t>Data transformation and querying were performed in </a:t>
            </a:r>
            <a:r>
              <a:rPr lang="en-US" sz="2000" b="1" dirty="0"/>
              <a:t>Microsoft SQL Server Management Studio (SSMS)</a:t>
            </a:r>
            <a:r>
              <a:rPr lang="en-US" sz="2000" dirty="0"/>
              <a:t>, and insights were visualized in </a:t>
            </a:r>
            <a:r>
              <a:rPr lang="en-US" sz="2000" b="1" dirty="0"/>
              <a:t>Power BI</a:t>
            </a:r>
            <a:r>
              <a:rPr lang="en-US" sz="2000" dirty="0"/>
              <a:t> using an interactive dashboard.</a:t>
            </a:r>
            <a:br>
              <a:rPr lang="en-US" sz="2000" dirty="0"/>
            </a:br>
            <a:r>
              <a:rPr lang="en-US" sz="2000" dirty="0"/>
              <a:t>Key findings include:</a:t>
            </a:r>
            <a:br>
              <a:rPr lang="en-US" sz="2000" dirty="0"/>
            </a:br>
            <a:r>
              <a:rPr lang="en-US" sz="2000" dirty="0"/>
              <a:t>Strong revenue growth between </a:t>
            </a:r>
            <a:r>
              <a:rPr lang="en-US" sz="2000" b="1" dirty="0"/>
              <a:t>2018 and 2019</a:t>
            </a:r>
            <a:br>
              <a:rPr lang="en-US" sz="2000" dirty="0"/>
            </a:br>
            <a:r>
              <a:rPr lang="en-US" sz="2000" dirty="0"/>
              <a:t>Parking utilization consistently </a:t>
            </a:r>
            <a:r>
              <a:rPr lang="en-US" sz="2000" b="1" dirty="0"/>
              <a:t>2%–3%</a:t>
            </a:r>
            <a:r>
              <a:rPr lang="en-US" sz="2000" dirty="0"/>
              <a:t>, indicating no expansion needed</a:t>
            </a:r>
            <a:br>
              <a:rPr lang="en-US" sz="2000" dirty="0"/>
            </a:br>
            <a:r>
              <a:rPr lang="en-US" sz="2000" dirty="0"/>
              <a:t>ADR shows a steady </a:t>
            </a:r>
            <a:r>
              <a:rPr lang="en-US" sz="2000" b="1" dirty="0"/>
              <a:t>upward trend</a:t>
            </a:r>
            <a:r>
              <a:rPr lang="en-US" sz="2000" dirty="0"/>
              <a:t>, supporting profitable pricing</a:t>
            </a:r>
            <a:br>
              <a:rPr lang="en-US" sz="2000" dirty="0"/>
            </a:br>
            <a:r>
              <a:rPr lang="en-US" sz="2000" dirty="0"/>
              <a:t>Clear </a:t>
            </a:r>
            <a:r>
              <a:rPr lang="en-US" sz="2000" b="1" dirty="0"/>
              <a:t>seasonality patterns</a:t>
            </a:r>
            <a:r>
              <a:rPr lang="en-US" sz="2000" dirty="0"/>
              <a:t>, beneficial for forecasting</a:t>
            </a:r>
            <a:br>
              <a:rPr lang="en-US" sz="2000" dirty="0"/>
            </a:br>
            <a:r>
              <a:rPr lang="en-US" sz="2000" dirty="0"/>
              <a:t>This report provides strategic recommendations in pricing, operations, and forecasting.</a:t>
            </a:r>
            <a:br>
              <a:rPr lang="en-US" dirty="0"/>
            </a:br>
            <a:endParaRPr lang="en-IN" dirty="0"/>
          </a:p>
        </p:txBody>
      </p:sp>
    </p:spTree>
    <p:extLst>
      <p:ext uri="{BB962C8B-B14F-4D97-AF65-F5344CB8AC3E}">
        <p14:creationId xmlns:p14="http://schemas.microsoft.com/office/powerpoint/2010/main" val="14581564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B2CB1F1-3CFB-85EC-3C20-16B33F45FCE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61237" y="473885"/>
            <a:ext cx="10724707" cy="5689122"/>
          </a:xfrm>
          <a:prstGeom prst="rect">
            <a:avLst/>
          </a:prstGeom>
        </p:spPr>
      </p:pic>
    </p:spTree>
    <p:extLst>
      <p:ext uri="{BB962C8B-B14F-4D97-AF65-F5344CB8AC3E}">
        <p14:creationId xmlns:p14="http://schemas.microsoft.com/office/powerpoint/2010/main" val="14724913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8CBC322-A8EC-B3FD-BD03-AD88F37BDB8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3959" y="537221"/>
            <a:ext cx="10886697" cy="5783558"/>
          </a:xfrm>
          <a:prstGeom prst="rect">
            <a:avLst/>
          </a:prstGeom>
        </p:spPr>
      </p:pic>
    </p:spTree>
    <p:extLst>
      <p:ext uri="{BB962C8B-B14F-4D97-AF65-F5344CB8AC3E}">
        <p14:creationId xmlns:p14="http://schemas.microsoft.com/office/powerpoint/2010/main" val="29850471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D83F7AA3-1243-08E1-C09E-BAD5C04ACF32}"/>
              </a:ext>
            </a:extLst>
          </p:cNvPr>
          <p:cNvSpPr/>
          <p:nvPr/>
        </p:nvSpPr>
        <p:spPr>
          <a:xfrm>
            <a:off x="2477386" y="361506"/>
            <a:ext cx="6581554" cy="6262578"/>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IN">
              <a:ln>
                <a:solidFill>
                  <a:srgbClr val="C00000"/>
                </a:solidFill>
              </a:ln>
            </a:endParaRPr>
          </a:p>
        </p:txBody>
      </p:sp>
      <p:sp>
        <p:nvSpPr>
          <p:cNvPr id="4" name="TextBox 3">
            <a:extLst>
              <a:ext uri="{FF2B5EF4-FFF2-40B4-BE49-F238E27FC236}">
                <a16:creationId xmlns:a16="http://schemas.microsoft.com/office/drawing/2014/main" id="{A17277A1-FCAF-8CE0-F8C7-8AFFDBF05E51}"/>
              </a:ext>
            </a:extLst>
          </p:cNvPr>
          <p:cNvSpPr txBox="1"/>
          <p:nvPr/>
        </p:nvSpPr>
        <p:spPr>
          <a:xfrm>
            <a:off x="3306726" y="637954"/>
            <a:ext cx="7814930" cy="5847755"/>
          </a:xfrm>
          <a:prstGeom prst="rect">
            <a:avLst/>
          </a:prstGeom>
          <a:noFill/>
        </p:spPr>
        <p:txBody>
          <a:bodyPr wrap="square" rtlCol="0">
            <a:spAutoFit/>
          </a:bodyPr>
          <a:lstStyle/>
          <a:p>
            <a:r>
              <a:rPr lang="en-US" sz="1100" b="1" dirty="0">
                <a:latin typeface="Segoe UI Black" panose="020B0A02040204020203" pitchFamily="34" charset="0"/>
                <a:ea typeface="Segoe UI Black" panose="020B0A02040204020203" pitchFamily="34" charset="0"/>
              </a:rPr>
              <a:t>I. Project Scope, Objectives &amp; Technical Execution</a:t>
            </a:r>
          </a:p>
          <a:p>
            <a:endParaRPr lang="en-US" sz="1100" b="1" dirty="0">
              <a:latin typeface="Segoe UI Black" panose="020B0A02040204020203" pitchFamily="34" charset="0"/>
              <a:ea typeface="Segoe UI Black" panose="020B0A02040204020203" pitchFamily="34" charset="0"/>
            </a:endParaRPr>
          </a:p>
          <a:p>
            <a:r>
              <a:rPr lang="en-US" sz="1100" b="1" dirty="0">
                <a:latin typeface="Segoe UI Black" panose="020B0A02040204020203" pitchFamily="34" charset="0"/>
                <a:ea typeface="Segoe UI Black" panose="020B0A02040204020203" pitchFamily="34" charset="0"/>
              </a:rPr>
              <a:t>A. Project Objectives</a:t>
            </a:r>
          </a:p>
          <a:p>
            <a:r>
              <a:rPr lang="en-US" sz="1100" b="1" dirty="0">
                <a:latin typeface="Segoe UI Black" panose="020B0A02040204020203" pitchFamily="34" charset="0"/>
                <a:ea typeface="Segoe UI Black" panose="020B0A02040204020203" pitchFamily="34" charset="0"/>
              </a:rPr>
              <a:t>Financial Performance</a:t>
            </a:r>
            <a:br>
              <a:rPr lang="en-US" sz="1100" dirty="0">
                <a:latin typeface="Segoe UI Black" panose="020B0A02040204020203" pitchFamily="34" charset="0"/>
                <a:ea typeface="Segoe UI Black" panose="020B0A02040204020203" pitchFamily="34" charset="0"/>
              </a:rPr>
            </a:br>
            <a:r>
              <a:rPr lang="en-US" sz="1100" dirty="0">
                <a:latin typeface="Segoe UI Black" panose="020B0A02040204020203" pitchFamily="34" charset="0"/>
                <a:ea typeface="Segoe UI Black" panose="020B0A02040204020203" pitchFamily="34" charset="0"/>
              </a:rPr>
              <a:t>Measure and segment revenue by hotel type (City Hotel vs. Resort Hotel).</a:t>
            </a:r>
          </a:p>
          <a:p>
            <a:r>
              <a:rPr lang="en-US" sz="1100" b="1" dirty="0">
                <a:latin typeface="Segoe UI Black" panose="020B0A02040204020203" pitchFamily="34" charset="0"/>
                <a:ea typeface="Segoe UI Black" panose="020B0A02040204020203" pitchFamily="34" charset="0"/>
              </a:rPr>
              <a:t>Infrastructure Planning</a:t>
            </a:r>
            <a:br>
              <a:rPr lang="en-US" sz="1100" dirty="0">
                <a:latin typeface="Segoe UI Black" panose="020B0A02040204020203" pitchFamily="34" charset="0"/>
                <a:ea typeface="Segoe UI Black" panose="020B0A02040204020203" pitchFamily="34" charset="0"/>
              </a:rPr>
            </a:br>
            <a:r>
              <a:rPr lang="en-US" sz="1100" dirty="0">
                <a:latin typeface="Segoe UI Black" panose="020B0A02040204020203" pitchFamily="34" charset="0"/>
                <a:ea typeface="Segoe UI Black" panose="020B0A02040204020203" pitchFamily="34" charset="0"/>
              </a:rPr>
              <a:t>Assess the need to expand parking capacity.</a:t>
            </a:r>
          </a:p>
          <a:p>
            <a:r>
              <a:rPr lang="en-US" sz="1100" b="1" dirty="0">
                <a:latin typeface="Segoe UI Black" panose="020B0A02040204020203" pitchFamily="34" charset="0"/>
                <a:ea typeface="Segoe UI Black" panose="020B0A02040204020203" pitchFamily="34" charset="0"/>
              </a:rPr>
              <a:t>Operational &amp; Market Dynamics</a:t>
            </a:r>
            <a:br>
              <a:rPr lang="en-US" sz="1100" dirty="0">
                <a:latin typeface="Segoe UI Black" panose="020B0A02040204020203" pitchFamily="34" charset="0"/>
                <a:ea typeface="Segoe UI Black" panose="020B0A02040204020203" pitchFamily="34" charset="0"/>
              </a:rPr>
            </a:br>
            <a:r>
              <a:rPr lang="en-US" sz="1100" dirty="0">
                <a:latin typeface="Segoe UI Black" panose="020B0A02040204020203" pitchFamily="34" charset="0"/>
                <a:ea typeface="Segoe UI Black" panose="020B0A02040204020203" pitchFamily="34" charset="0"/>
              </a:rPr>
              <a:t>Understand ADR trends and seasonality for strategic decisions.</a:t>
            </a:r>
          </a:p>
          <a:p>
            <a:br>
              <a:rPr lang="en-US" sz="1100" dirty="0">
                <a:latin typeface="Segoe UI Black" panose="020B0A02040204020203" pitchFamily="34" charset="0"/>
                <a:ea typeface="Segoe UI Black" panose="020B0A02040204020203" pitchFamily="34" charset="0"/>
              </a:rPr>
            </a:br>
            <a:r>
              <a:rPr lang="en-US" sz="1100" b="1" dirty="0">
                <a:latin typeface="Segoe UI Black" panose="020B0A02040204020203" pitchFamily="34" charset="0"/>
                <a:ea typeface="Segoe UI Black" panose="020B0A02040204020203" pitchFamily="34" charset="0"/>
              </a:rPr>
              <a:t>B. Technical Pipeline &amp; Achievements</a:t>
            </a:r>
          </a:p>
          <a:p>
            <a:r>
              <a:rPr lang="en-US" sz="1100" b="1" dirty="0">
                <a:latin typeface="Segoe UI Black" panose="020B0A02040204020203" pitchFamily="34" charset="0"/>
                <a:ea typeface="Segoe UI Black" panose="020B0A02040204020203" pitchFamily="34" charset="0"/>
              </a:rPr>
              <a:t>1. SQL Database Engineering</a:t>
            </a:r>
          </a:p>
          <a:p>
            <a:r>
              <a:rPr lang="en-US" sz="1100" dirty="0">
                <a:latin typeface="Segoe UI Black" panose="020B0A02040204020203" pitchFamily="34" charset="0"/>
                <a:ea typeface="Segoe UI Black" panose="020B0A02040204020203" pitchFamily="34" charset="0"/>
              </a:rPr>
              <a:t>Built project database in SSMS.</a:t>
            </a:r>
          </a:p>
          <a:p>
            <a:r>
              <a:rPr lang="en-US" sz="1100" dirty="0">
                <a:latin typeface="Segoe UI Black" panose="020B0A02040204020203" pitchFamily="34" charset="0"/>
                <a:ea typeface="Segoe UI Black" panose="020B0A02040204020203" pitchFamily="34" charset="0"/>
              </a:rPr>
              <a:t>Imported raw datasets (2018–2020 bookings, </a:t>
            </a:r>
            <a:r>
              <a:rPr lang="en-US" sz="1100" dirty="0" err="1">
                <a:latin typeface="Segoe UI Black" panose="020B0A02040204020203" pitchFamily="34" charset="0"/>
                <a:ea typeface="Segoe UI Black" panose="020B0A02040204020203" pitchFamily="34" charset="0"/>
              </a:rPr>
              <a:t>meal_cost</a:t>
            </a:r>
            <a:r>
              <a:rPr lang="en-US" sz="1100" dirty="0">
                <a:latin typeface="Segoe UI Black" panose="020B0A02040204020203" pitchFamily="34" charset="0"/>
                <a:ea typeface="Segoe UI Black" panose="020B0A02040204020203" pitchFamily="34" charset="0"/>
              </a:rPr>
              <a:t>, </a:t>
            </a:r>
            <a:r>
              <a:rPr lang="en-US" sz="1100" dirty="0" err="1">
                <a:latin typeface="Segoe UI Black" panose="020B0A02040204020203" pitchFamily="34" charset="0"/>
                <a:ea typeface="Segoe UI Black" panose="020B0A02040204020203" pitchFamily="34" charset="0"/>
              </a:rPr>
              <a:t>market_segment</a:t>
            </a:r>
            <a:r>
              <a:rPr lang="en-US" sz="1100" dirty="0">
                <a:latin typeface="Segoe UI Black" panose="020B0A02040204020203" pitchFamily="34" charset="0"/>
                <a:ea typeface="Segoe UI Black" panose="020B0A02040204020203" pitchFamily="34" charset="0"/>
              </a:rPr>
              <a:t>).</a:t>
            </a:r>
          </a:p>
          <a:p>
            <a:r>
              <a:rPr lang="en-US" sz="1100" dirty="0">
                <a:latin typeface="Segoe UI Black" panose="020B0A02040204020203" pitchFamily="34" charset="0"/>
                <a:ea typeface="Segoe UI Black" panose="020B0A02040204020203" pitchFamily="34" charset="0"/>
              </a:rPr>
              <a:t>Standardized data types across tables.</a:t>
            </a:r>
          </a:p>
          <a:p>
            <a:r>
              <a:rPr lang="en-US" sz="1100" b="1" dirty="0">
                <a:latin typeface="Segoe UI Black" panose="020B0A02040204020203" pitchFamily="34" charset="0"/>
                <a:ea typeface="Segoe UI Black" panose="020B0A02040204020203" pitchFamily="34" charset="0"/>
              </a:rPr>
              <a:t>2. Consolidation &amp; Structuring</a:t>
            </a:r>
          </a:p>
          <a:p>
            <a:r>
              <a:rPr lang="en-US" sz="1100" dirty="0">
                <a:latin typeface="Segoe UI Black" panose="020B0A02040204020203" pitchFamily="34" charset="0"/>
                <a:ea typeface="Segoe UI Black" panose="020B0A02040204020203" pitchFamily="34" charset="0"/>
              </a:rPr>
              <a:t>Combined three years using </a:t>
            </a:r>
            <a:r>
              <a:rPr lang="en-US" sz="1100" b="1" dirty="0">
                <a:latin typeface="Segoe UI Black" panose="020B0A02040204020203" pitchFamily="34" charset="0"/>
                <a:ea typeface="Segoe UI Black" panose="020B0A02040204020203" pitchFamily="34" charset="0"/>
              </a:rPr>
              <a:t>UNION ALL</a:t>
            </a:r>
            <a:r>
              <a:rPr lang="en-US" sz="1100" dirty="0">
                <a:latin typeface="Segoe UI Black" panose="020B0A02040204020203" pitchFamily="34" charset="0"/>
                <a:ea typeface="Segoe UI Black" panose="020B0A02040204020203" pitchFamily="34" charset="0"/>
              </a:rPr>
              <a:t> (≈100k rows).</a:t>
            </a:r>
          </a:p>
          <a:p>
            <a:r>
              <a:rPr lang="en-US" sz="1100" dirty="0">
                <a:latin typeface="Segoe UI Black" panose="020B0A02040204020203" pitchFamily="34" charset="0"/>
                <a:ea typeface="Segoe UI Black" panose="020B0A02040204020203" pitchFamily="34" charset="0"/>
              </a:rPr>
              <a:t>Created CTE (</a:t>
            </a:r>
            <a:r>
              <a:rPr lang="en-US" sz="1100" b="1" dirty="0">
                <a:latin typeface="Segoe UI Black" panose="020B0A02040204020203" pitchFamily="34" charset="0"/>
                <a:ea typeface="Segoe UI Black" panose="020B0A02040204020203" pitchFamily="34" charset="0"/>
              </a:rPr>
              <a:t>hotels</a:t>
            </a:r>
            <a:r>
              <a:rPr lang="en-US" sz="1100" dirty="0">
                <a:latin typeface="Segoe UI Black" panose="020B0A02040204020203" pitchFamily="34" charset="0"/>
                <a:ea typeface="Segoe UI Black" panose="020B0A02040204020203" pitchFamily="34" charset="0"/>
              </a:rPr>
              <a:t>) for unified analytical structure.</a:t>
            </a:r>
          </a:p>
          <a:p>
            <a:r>
              <a:rPr lang="en-US" sz="1100" dirty="0">
                <a:latin typeface="Segoe UI Black" panose="020B0A02040204020203" pitchFamily="34" charset="0"/>
                <a:ea typeface="Segoe UI Black" panose="020B0A02040204020203" pitchFamily="34" charset="0"/>
              </a:rPr>
              <a:t>Joined:</a:t>
            </a:r>
          </a:p>
          <a:p>
            <a:pPr lvl="1"/>
            <a:r>
              <a:rPr lang="en-US" sz="1100" b="1" dirty="0" err="1">
                <a:latin typeface="Segoe UI Black" panose="020B0A02040204020203" pitchFamily="34" charset="0"/>
                <a:ea typeface="Segoe UI Black" panose="020B0A02040204020203" pitchFamily="34" charset="0"/>
              </a:rPr>
              <a:t>market_segment</a:t>
            </a:r>
            <a:r>
              <a:rPr lang="en-US" sz="1100" dirty="0">
                <a:latin typeface="Segoe UI Black" panose="020B0A02040204020203" pitchFamily="34" charset="0"/>
                <a:ea typeface="Segoe UI Black" panose="020B0A02040204020203" pitchFamily="34" charset="0"/>
              </a:rPr>
              <a:t> → discount percentage</a:t>
            </a:r>
          </a:p>
          <a:p>
            <a:pPr lvl="1"/>
            <a:r>
              <a:rPr lang="en-US" sz="1100" b="1" dirty="0" err="1">
                <a:latin typeface="Segoe UI Black" panose="020B0A02040204020203" pitchFamily="34" charset="0"/>
                <a:ea typeface="Segoe UI Black" panose="020B0A02040204020203" pitchFamily="34" charset="0"/>
              </a:rPr>
              <a:t>meals_cost</a:t>
            </a:r>
            <a:r>
              <a:rPr lang="en-US" sz="1100" dirty="0">
                <a:latin typeface="Segoe UI Black" panose="020B0A02040204020203" pitchFamily="34" charset="0"/>
                <a:ea typeface="Segoe UI Black" panose="020B0A02040204020203" pitchFamily="34" charset="0"/>
              </a:rPr>
              <a:t> → meal attributes</a:t>
            </a:r>
          </a:p>
          <a:p>
            <a:endParaRPr lang="en-US" sz="1100" b="1" dirty="0">
              <a:latin typeface="Segoe UI Black" panose="020B0A02040204020203" pitchFamily="34" charset="0"/>
              <a:ea typeface="Segoe UI Black" panose="020B0A02040204020203" pitchFamily="34" charset="0"/>
            </a:endParaRPr>
          </a:p>
          <a:p>
            <a:r>
              <a:rPr lang="en-US" sz="1100" b="1" dirty="0">
                <a:latin typeface="Segoe UI Black" panose="020B0A02040204020203" pitchFamily="34" charset="0"/>
                <a:ea typeface="Segoe UI Black" panose="020B0A02040204020203" pitchFamily="34" charset="0"/>
              </a:rPr>
              <a:t>3. Accurate Revenue Metric</a:t>
            </a:r>
          </a:p>
          <a:p>
            <a:r>
              <a:rPr lang="en-US" sz="1100" b="1" dirty="0">
                <a:latin typeface="Segoe UI Black" panose="020B0A02040204020203" pitchFamily="34" charset="0"/>
                <a:ea typeface="Segoe UI Black" panose="020B0A02040204020203" pitchFamily="34" charset="0"/>
              </a:rPr>
              <a:t>Correct Formula:</a:t>
            </a:r>
            <a:endParaRPr lang="en-US" sz="1100" dirty="0">
              <a:latin typeface="Segoe UI Black" panose="020B0A02040204020203" pitchFamily="34" charset="0"/>
              <a:ea typeface="Segoe UI Black" panose="020B0A02040204020203" pitchFamily="34" charset="0"/>
            </a:endParaRPr>
          </a:p>
          <a:p>
            <a:r>
              <a:rPr lang="en-US" sz="1100" dirty="0">
                <a:latin typeface="Segoe UI Black" panose="020B0A02040204020203" pitchFamily="34" charset="0"/>
                <a:ea typeface="Segoe UI Black" panose="020B0A02040204020203" pitchFamily="34" charset="0"/>
              </a:rPr>
              <a:t>Total Room Nights = Stays in Week Nights + Stays in Weekends</a:t>
            </a:r>
          </a:p>
          <a:p>
            <a:r>
              <a:rPr lang="en-US" sz="1100" dirty="0">
                <a:latin typeface="Segoe UI Black" panose="020B0A02040204020203" pitchFamily="34" charset="0"/>
                <a:ea typeface="Segoe UI Black" panose="020B0A02040204020203" pitchFamily="34" charset="0"/>
              </a:rPr>
              <a:t>Total Revenue = Σ (Total Room Nights × ADR × (1 − Discount%))</a:t>
            </a:r>
          </a:p>
          <a:p>
            <a:r>
              <a:rPr lang="en-US" sz="1100" dirty="0">
                <a:latin typeface="Segoe UI Black" panose="020B0A02040204020203" pitchFamily="34" charset="0"/>
                <a:ea typeface="Segoe UI Black" panose="020B0A02040204020203" pitchFamily="34" charset="0"/>
              </a:rPr>
              <a:t>Calculated in Power BI for accuracy.</a:t>
            </a:r>
          </a:p>
          <a:p>
            <a:endParaRPr lang="en-US" sz="1100" b="1" dirty="0">
              <a:latin typeface="Segoe UI Black" panose="020B0A02040204020203" pitchFamily="34" charset="0"/>
              <a:ea typeface="Segoe UI Black" panose="020B0A02040204020203" pitchFamily="34" charset="0"/>
            </a:endParaRPr>
          </a:p>
          <a:p>
            <a:r>
              <a:rPr lang="en-US" sz="1100" b="1" dirty="0">
                <a:latin typeface="Segoe UI Black" panose="020B0A02040204020203" pitchFamily="34" charset="0"/>
                <a:ea typeface="Segoe UI Black" panose="020B0A02040204020203" pitchFamily="34" charset="0"/>
              </a:rPr>
              <a:t>4. Power BI Dashboard</a:t>
            </a:r>
          </a:p>
          <a:p>
            <a:r>
              <a:rPr lang="en-US" sz="1100" dirty="0">
                <a:latin typeface="Segoe UI Black" panose="020B0A02040204020203" pitchFamily="34" charset="0"/>
                <a:ea typeface="Segoe UI Black" panose="020B0A02040204020203" pitchFamily="34" charset="0"/>
              </a:rPr>
              <a:t>Slicers for date, hotel type, and segment</a:t>
            </a:r>
          </a:p>
          <a:p>
            <a:r>
              <a:rPr lang="en-US" sz="1100" dirty="0">
                <a:latin typeface="Segoe UI Black" panose="020B0A02040204020203" pitchFamily="34" charset="0"/>
                <a:ea typeface="Segoe UI Black" panose="020B0A02040204020203" pitchFamily="34" charset="0"/>
              </a:rPr>
              <a:t>Revenue segmentation visuals</a:t>
            </a:r>
          </a:p>
          <a:p>
            <a:r>
              <a:rPr lang="en-US" sz="1100" dirty="0">
                <a:latin typeface="Segoe UI Black" panose="020B0A02040204020203" pitchFamily="34" charset="0"/>
                <a:ea typeface="Segoe UI Black" panose="020B0A02040204020203" pitchFamily="34" charset="0"/>
              </a:rPr>
              <a:t>Parking trend line charts</a:t>
            </a:r>
          </a:p>
          <a:p>
            <a:r>
              <a:rPr lang="en-US" sz="1100" dirty="0">
                <a:latin typeface="Segoe UI Black" panose="020B0A02040204020203" pitchFamily="34" charset="0"/>
                <a:ea typeface="Segoe UI Black" panose="020B0A02040204020203" pitchFamily="34" charset="0"/>
              </a:rPr>
              <a:t>ADR trend lines</a:t>
            </a:r>
          </a:p>
          <a:p>
            <a:r>
              <a:rPr lang="en-US" sz="1100" dirty="0">
                <a:latin typeface="Segoe UI Black" panose="020B0A02040204020203" pitchFamily="34" charset="0"/>
                <a:ea typeface="Segoe UI Black" panose="020B0A02040204020203" pitchFamily="34" charset="0"/>
              </a:rPr>
              <a:t>Seasonality graphs</a:t>
            </a:r>
          </a:p>
        </p:txBody>
      </p:sp>
    </p:spTree>
    <p:extLst>
      <p:ext uri="{BB962C8B-B14F-4D97-AF65-F5344CB8AC3E}">
        <p14:creationId xmlns:p14="http://schemas.microsoft.com/office/powerpoint/2010/main" val="17968134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9DDCB01-85D2-01B4-9478-7522F8DCF3D3}"/>
              </a:ext>
            </a:extLst>
          </p:cNvPr>
          <p:cNvSpPr/>
          <p:nvPr/>
        </p:nvSpPr>
        <p:spPr>
          <a:xfrm>
            <a:off x="850606" y="425302"/>
            <a:ext cx="10547496" cy="5932967"/>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dirty="0"/>
          </a:p>
        </p:txBody>
      </p:sp>
      <p:sp>
        <p:nvSpPr>
          <p:cNvPr id="5" name="TextBox 4">
            <a:extLst>
              <a:ext uri="{FF2B5EF4-FFF2-40B4-BE49-F238E27FC236}">
                <a16:creationId xmlns:a16="http://schemas.microsoft.com/office/drawing/2014/main" id="{1C00F2A6-D87B-FE40-9E66-6E4CCC814F38}"/>
              </a:ext>
            </a:extLst>
          </p:cNvPr>
          <p:cNvSpPr txBox="1"/>
          <p:nvPr/>
        </p:nvSpPr>
        <p:spPr>
          <a:xfrm>
            <a:off x="1084521" y="659219"/>
            <a:ext cx="10079665" cy="5324535"/>
          </a:xfrm>
          <a:prstGeom prst="rect">
            <a:avLst/>
          </a:prstGeom>
          <a:noFill/>
        </p:spPr>
        <p:txBody>
          <a:bodyPr wrap="square" rtlCol="0">
            <a:spAutoFit/>
          </a:bodyPr>
          <a:lstStyle/>
          <a:p>
            <a:r>
              <a:rPr lang="en-US" sz="2000" b="1" dirty="0"/>
              <a:t>II. Analytical Findings &amp; Business Insights</a:t>
            </a:r>
          </a:p>
          <a:p>
            <a:r>
              <a:rPr lang="en-US" sz="2000" b="1" dirty="0"/>
              <a:t>A. Revenue Performance</a:t>
            </a:r>
          </a:p>
          <a:p>
            <a:r>
              <a:rPr lang="en-US" sz="2000" b="1" dirty="0"/>
              <a:t>Yearly Revenue Summary</a:t>
            </a:r>
            <a:endParaRPr lang="en-US" sz="2000" dirty="0"/>
          </a:p>
          <a:p>
            <a:r>
              <a:rPr lang="en-US" sz="2000" b="1" dirty="0"/>
              <a:t>2018</a:t>
            </a:r>
            <a:br>
              <a:rPr lang="en-US" sz="2000" dirty="0"/>
            </a:br>
            <a:r>
              <a:rPr lang="en-US" sz="2000" dirty="0"/>
              <a:t>→ ~$4M baseline revenue</a:t>
            </a:r>
          </a:p>
          <a:p>
            <a:r>
              <a:rPr lang="en-US" sz="2000" b="1" dirty="0"/>
              <a:t>2019</a:t>
            </a:r>
            <a:br>
              <a:rPr lang="en-US" sz="2000" dirty="0"/>
            </a:br>
            <a:r>
              <a:rPr lang="en-US" sz="2000" dirty="0"/>
              <a:t>→ ~$20M, nearly 5x growth</a:t>
            </a:r>
          </a:p>
          <a:p>
            <a:r>
              <a:rPr lang="en-US" sz="2000" b="1" dirty="0"/>
              <a:t>2020</a:t>
            </a:r>
            <a:br>
              <a:rPr lang="en-US" sz="2000" dirty="0"/>
            </a:br>
            <a:r>
              <a:rPr lang="en-US" sz="2000" dirty="0"/>
              <a:t>→ ~$14M (incomplete dataset; exclude from YoY comparisons)</a:t>
            </a:r>
          </a:p>
          <a:p>
            <a:r>
              <a:rPr lang="en-US" sz="2000" b="1" dirty="0"/>
              <a:t>Insights</a:t>
            </a:r>
            <a:endParaRPr lang="en-US" sz="2000" dirty="0"/>
          </a:p>
          <a:p>
            <a:r>
              <a:rPr lang="en-US" sz="2000" dirty="0"/>
              <a:t>Strong growth from 2018–2019 shows high pre-pandemic momentum.</a:t>
            </a:r>
          </a:p>
          <a:p>
            <a:r>
              <a:rPr lang="en-US" sz="2000" dirty="0"/>
              <a:t>City Hotel contributes the majority of total revenue.</a:t>
            </a:r>
          </a:p>
          <a:p>
            <a:r>
              <a:rPr lang="en-US" sz="2000" dirty="0"/>
              <a:t>Resort Hotel also grows but to a smaller scale.</a:t>
            </a:r>
          </a:p>
          <a:p>
            <a:r>
              <a:rPr lang="en-US" sz="2000" dirty="0"/>
              <a:t>2020 data cannot be considered for forecasting.</a:t>
            </a:r>
          </a:p>
          <a:p>
            <a:r>
              <a:rPr lang="en-US" sz="2000" b="1" dirty="0"/>
              <a:t>Interpretation</a:t>
            </a:r>
            <a:endParaRPr lang="en-US" sz="2000" dirty="0"/>
          </a:p>
          <a:p>
            <a:r>
              <a:rPr lang="en-US" sz="2000" dirty="0"/>
              <a:t>→ City Hotel is the primary revenue engine</a:t>
            </a:r>
            <a:br>
              <a:rPr lang="en-US" sz="2000" dirty="0"/>
            </a:br>
            <a:r>
              <a:rPr lang="en-US" sz="2000" dirty="0"/>
              <a:t>→ Use 2018–2019 as the benchmark for performance forecasting</a:t>
            </a:r>
          </a:p>
        </p:txBody>
      </p:sp>
    </p:spTree>
    <p:extLst>
      <p:ext uri="{BB962C8B-B14F-4D97-AF65-F5344CB8AC3E}">
        <p14:creationId xmlns:p14="http://schemas.microsoft.com/office/powerpoint/2010/main" val="35428047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E9A37BB-5656-F7F2-5F99-AE9114C303BC}"/>
              </a:ext>
            </a:extLst>
          </p:cNvPr>
          <p:cNvSpPr/>
          <p:nvPr/>
        </p:nvSpPr>
        <p:spPr>
          <a:xfrm>
            <a:off x="765545" y="616688"/>
            <a:ext cx="10706986" cy="5794745"/>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dirty="0">
              <a:solidFill>
                <a:schemeClr val="tx1"/>
              </a:solidFill>
            </a:endParaRPr>
          </a:p>
        </p:txBody>
      </p:sp>
      <p:sp>
        <p:nvSpPr>
          <p:cNvPr id="3" name="TextBox 2">
            <a:extLst>
              <a:ext uri="{FF2B5EF4-FFF2-40B4-BE49-F238E27FC236}">
                <a16:creationId xmlns:a16="http://schemas.microsoft.com/office/drawing/2014/main" id="{41BF1A40-E28E-5997-7BC7-BD933DBB074F}"/>
              </a:ext>
            </a:extLst>
          </p:cNvPr>
          <p:cNvSpPr txBox="1"/>
          <p:nvPr/>
        </p:nvSpPr>
        <p:spPr>
          <a:xfrm>
            <a:off x="1509823" y="956930"/>
            <a:ext cx="9675628" cy="4986670"/>
          </a:xfrm>
          <a:prstGeom prst="rect">
            <a:avLst/>
          </a:prstGeom>
          <a:noFill/>
        </p:spPr>
        <p:txBody>
          <a:bodyPr wrap="square" rtlCol="0">
            <a:spAutoFit/>
          </a:bodyPr>
          <a:lstStyle/>
          <a:p>
            <a:r>
              <a:rPr lang="en-US" sz="3200" b="1" dirty="0"/>
              <a:t>B. Parking Infrastructure Assessment</a:t>
            </a:r>
          </a:p>
          <a:p>
            <a:r>
              <a:rPr lang="en-US" sz="3200" b="1" dirty="0"/>
              <a:t>Utilization Rate = 2%–3% consistently</a:t>
            </a:r>
            <a:endParaRPr lang="en-US" sz="3200" dirty="0"/>
          </a:p>
          <a:p>
            <a:r>
              <a:rPr lang="en-US" sz="3200" b="1" dirty="0"/>
              <a:t>Findings</a:t>
            </a:r>
            <a:endParaRPr lang="en-US" sz="3200" dirty="0"/>
          </a:p>
          <a:p>
            <a:r>
              <a:rPr lang="en-US" sz="3200" dirty="0"/>
              <a:t>No increasing trend across three years</a:t>
            </a:r>
          </a:p>
          <a:p>
            <a:r>
              <a:rPr lang="en-US" sz="3200" dirty="0"/>
              <a:t>City Hotel guests rely more on taxis</a:t>
            </a:r>
          </a:p>
          <a:p>
            <a:r>
              <a:rPr lang="en-US" sz="3200" dirty="0"/>
              <a:t>Resort guests use slightly more car space but still too low</a:t>
            </a:r>
          </a:p>
          <a:p>
            <a:r>
              <a:rPr lang="en-US" sz="3200" dirty="0"/>
              <a:t>No seasonal spikes or demand surges</a:t>
            </a:r>
          </a:p>
          <a:p>
            <a:r>
              <a:rPr lang="en-US" sz="3200" b="1" dirty="0"/>
              <a:t>Conclusion</a:t>
            </a:r>
            <a:endParaRPr lang="en-US" sz="3200" dirty="0"/>
          </a:p>
          <a:p>
            <a:r>
              <a:rPr lang="en-US" sz="3200" dirty="0"/>
              <a:t>→ Parking expansion is NOT required.</a:t>
            </a:r>
            <a:br>
              <a:rPr lang="en-US" sz="3200" dirty="0"/>
            </a:br>
            <a:r>
              <a:rPr lang="en-US" sz="3200" dirty="0"/>
              <a:t>→ Demand does not justify investment.</a:t>
            </a:r>
          </a:p>
        </p:txBody>
      </p:sp>
    </p:spTree>
    <p:extLst>
      <p:ext uri="{BB962C8B-B14F-4D97-AF65-F5344CB8AC3E}">
        <p14:creationId xmlns:p14="http://schemas.microsoft.com/office/powerpoint/2010/main" val="34050715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B40C742-3CF9-DBD2-BB00-C0E9E63B02D7}"/>
              </a:ext>
            </a:extLst>
          </p:cNvPr>
          <p:cNvSpPr/>
          <p:nvPr/>
        </p:nvSpPr>
        <p:spPr>
          <a:xfrm>
            <a:off x="1264389" y="664535"/>
            <a:ext cx="9875874" cy="5528929"/>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4" name="TextBox 3">
            <a:extLst>
              <a:ext uri="{FF2B5EF4-FFF2-40B4-BE49-F238E27FC236}">
                <a16:creationId xmlns:a16="http://schemas.microsoft.com/office/drawing/2014/main" id="{84F33180-52D0-4CE1-9BF7-D319D367CD86}"/>
              </a:ext>
            </a:extLst>
          </p:cNvPr>
          <p:cNvSpPr txBox="1"/>
          <p:nvPr/>
        </p:nvSpPr>
        <p:spPr>
          <a:xfrm>
            <a:off x="1658678" y="988828"/>
            <a:ext cx="9122735" cy="4832092"/>
          </a:xfrm>
          <a:prstGeom prst="rect">
            <a:avLst/>
          </a:prstGeom>
          <a:noFill/>
        </p:spPr>
        <p:txBody>
          <a:bodyPr wrap="square" rtlCol="0">
            <a:spAutoFit/>
          </a:bodyPr>
          <a:lstStyle/>
          <a:p>
            <a:r>
              <a:rPr lang="en-US" sz="2800" b="1" dirty="0"/>
              <a:t>C. ADR &amp; Market Trends</a:t>
            </a:r>
          </a:p>
          <a:p>
            <a:r>
              <a:rPr lang="en-US" sz="2800" b="1" dirty="0"/>
              <a:t>1. ADR Trend</a:t>
            </a:r>
          </a:p>
          <a:p>
            <a:r>
              <a:rPr lang="en-US" sz="2800" dirty="0"/>
              <a:t>Consistently increasing YoY</a:t>
            </a:r>
          </a:p>
          <a:p>
            <a:r>
              <a:rPr lang="en-US" sz="2800" dirty="0"/>
              <a:t>Indicates successful pricing and strong demand</a:t>
            </a:r>
          </a:p>
          <a:p>
            <a:r>
              <a:rPr lang="en-US" sz="2800" b="1" dirty="0"/>
              <a:t>2. Seasonality</a:t>
            </a:r>
          </a:p>
          <a:p>
            <a:r>
              <a:rPr lang="en-US" sz="2800" dirty="0"/>
              <a:t>Resort: peaks in summer</a:t>
            </a:r>
          </a:p>
          <a:p>
            <a:r>
              <a:rPr lang="en-US" sz="2800" dirty="0"/>
              <a:t>City Hotel: peaks in Q3 business season</a:t>
            </a:r>
          </a:p>
          <a:p>
            <a:r>
              <a:rPr lang="en-US" sz="2800" dirty="0"/>
              <a:t>Dips during monsoon &amp; early Q1</a:t>
            </a:r>
          </a:p>
          <a:p>
            <a:r>
              <a:rPr lang="en-US" sz="2800" b="1" dirty="0"/>
              <a:t>3. Segment Profitability</a:t>
            </a:r>
          </a:p>
          <a:p>
            <a:r>
              <a:rPr lang="en-US" sz="2800" dirty="0"/>
              <a:t>High-discount OTA segments reduce ADR</a:t>
            </a:r>
          </a:p>
          <a:p>
            <a:r>
              <a:rPr lang="en-US" sz="2800" dirty="0"/>
              <a:t>Direct bookings &amp; corporate segments deliver higher margins</a:t>
            </a:r>
          </a:p>
        </p:txBody>
      </p:sp>
    </p:spTree>
    <p:extLst>
      <p:ext uri="{BB962C8B-B14F-4D97-AF65-F5344CB8AC3E}">
        <p14:creationId xmlns:p14="http://schemas.microsoft.com/office/powerpoint/2010/main" val="40344210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3103740-B1E7-3DED-DC59-C04C4778F3E1}"/>
              </a:ext>
            </a:extLst>
          </p:cNvPr>
          <p:cNvSpPr/>
          <p:nvPr/>
        </p:nvSpPr>
        <p:spPr>
          <a:xfrm>
            <a:off x="1061484" y="627321"/>
            <a:ext cx="10069032" cy="5603358"/>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3" name="TextBox 2">
            <a:extLst>
              <a:ext uri="{FF2B5EF4-FFF2-40B4-BE49-F238E27FC236}">
                <a16:creationId xmlns:a16="http://schemas.microsoft.com/office/drawing/2014/main" id="{011BD762-33EA-509A-F630-500782447B0C}"/>
              </a:ext>
            </a:extLst>
          </p:cNvPr>
          <p:cNvSpPr txBox="1"/>
          <p:nvPr/>
        </p:nvSpPr>
        <p:spPr>
          <a:xfrm>
            <a:off x="1658679" y="893136"/>
            <a:ext cx="8519337" cy="5016758"/>
          </a:xfrm>
          <a:prstGeom prst="rect">
            <a:avLst/>
          </a:prstGeom>
          <a:noFill/>
        </p:spPr>
        <p:txBody>
          <a:bodyPr wrap="square" rtlCol="0">
            <a:spAutoFit/>
          </a:bodyPr>
          <a:lstStyle/>
          <a:p>
            <a:r>
              <a:rPr lang="en-US" sz="1600" b="1" dirty="0"/>
              <a:t>III. Strategic Recommendations</a:t>
            </a:r>
          </a:p>
          <a:p>
            <a:r>
              <a:rPr lang="en-US" sz="1600" b="1" dirty="0"/>
              <a:t>A. Revenue Optimization</a:t>
            </a:r>
          </a:p>
          <a:p>
            <a:r>
              <a:rPr lang="en-US" sz="1600" dirty="0"/>
              <a:t>Increase ADR during peak seasons</a:t>
            </a:r>
          </a:p>
          <a:p>
            <a:r>
              <a:rPr lang="en-US" sz="1600" dirty="0"/>
              <a:t>Promote themed packages during low-demand months</a:t>
            </a:r>
          </a:p>
          <a:p>
            <a:r>
              <a:rPr lang="en-US" sz="1600" dirty="0"/>
              <a:t>Prioritize high-margin segments</a:t>
            </a:r>
          </a:p>
          <a:p>
            <a:pPr lvl="1"/>
            <a:r>
              <a:rPr lang="en-US" sz="1600" dirty="0"/>
              <a:t>Direct bookings</a:t>
            </a:r>
          </a:p>
          <a:p>
            <a:pPr lvl="1"/>
            <a:r>
              <a:rPr lang="en-US" sz="1600" dirty="0"/>
              <a:t>Corporate clients</a:t>
            </a:r>
          </a:p>
          <a:p>
            <a:r>
              <a:rPr lang="en-US" sz="1600" dirty="0"/>
              <a:t>Reduce dependency on OTA discounts</a:t>
            </a:r>
          </a:p>
          <a:p>
            <a:r>
              <a:rPr lang="en-US" sz="1600" b="1" dirty="0"/>
              <a:t>B. Operational Strategy</a:t>
            </a:r>
          </a:p>
          <a:p>
            <a:r>
              <a:rPr lang="en-US" sz="1600" dirty="0"/>
              <a:t>Invest more in City Hotel</a:t>
            </a:r>
          </a:p>
          <a:p>
            <a:pPr lvl="1"/>
            <a:r>
              <a:rPr lang="en-US" sz="1600" dirty="0"/>
              <a:t>Strongest and most stable revenue base</a:t>
            </a:r>
          </a:p>
          <a:p>
            <a:r>
              <a:rPr lang="en-US" sz="1600" dirty="0"/>
              <a:t>Enhance Resort Hotel experiential offerings</a:t>
            </a:r>
          </a:p>
          <a:p>
            <a:pPr lvl="1"/>
            <a:r>
              <a:rPr lang="en-US" sz="1600" dirty="0"/>
              <a:t>Family packages</a:t>
            </a:r>
          </a:p>
          <a:p>
            <a:pPr lvl="1"/>
            <a:r>
              <a:rPr lang="en-US" sz="1600" dirty="0"/>
              <a:t>Seasonal getaway bundles</a:t>
            </a:r>
          </a:p>
          <a:p>
            <a:r>
              <a:rPr lang="en-US" sz="1600" b="1" dirty="0"/>
              <a:t>C. Do not expand parking</a:t>
            </a:r>
            <a:br>
              <a:rPr lang="en-US" sz="1600" dirty="0"/>
            </a:br>
            <a:r>
              <a:rPr lang="en-US" sz="1600" dirty="0"/>
              <a:t>Convert unused parking areas into:</a:t>
            </a:r>
          </a:p>
          <a:p>
            <a:pPr lvl="1"/>
            <a:r>
              <a:rPr lang="en-US" sz="1600" dirty="0"/>
              <a:t>EV charging stations</a:t>
            </a:r>
          </a:p>
          <a:p>
            <a:pPr lvl="1"/>
            <a:r>
              <a:rPr lang="en-US" sz="1600" dirty="0"/>
              <a:t>Outdoor café</a:t>
            </a:r>
          </a:p>
          <a:p>
            <a:pPr lvl="1"/>
            <a:r>
              <a:rPr lang="en-US" sz="1600" dirty="0"/>
              <a:t>Event hosting zone</a:t>
            </a:r>
          </a:p>
          <a:p>
            <a:pPr lvl="1"/>
            <a:r>
              <a:rPr lang="en-US" sz="1600" dirty="0"/>
              <a:t>Valet drop space</a:t>
            </a:r>
          </a:p>
        </p:txBody>
      </p:sp>
    </p:spTree>
    <p:extLst>
      <p:ext uri="{BB962C8B-B14F-4D97-AF65-F5344CB8AC3E}">
        <p14:creationId xmlns:p14="http://schemas.microsoft.com/office/powerpoint/2010/main" val="6076745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3AD2676-F803-6A04-31E4-05447B6EB419}"/>
              </a:ext>
            </a:extLst>
          </p:cNvPr>
          <p:cNvSpPr/>
          <p:nvPr/>
        </p:nvSpPr>
        <p:spPr>
          <a:xfrm>
            <a:off x="925033" y="526312"/>
            <a:ext cx="10526232" cy="580537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3" name="TextBox 2">
            <a:extLst>
              <a:ext uri="{FF2B5EF4-FFF2-40B4-BE49-F238E27FC236}">
                <a16:creationId xmlns:a16="http://schemas.microsoft.com/office/drawing/2014/main" id="{968304E3-8D46-9961-CF5B-BB2682EA4664}"/>
              </a:ext>
            </a:extLst>
          </p:cNvPr>
          <p:cNvSpPr txBox="1"/>
          <p:nvPr/>
        </p:nvSpPr>
        <p:spPr>
          <a:xfrm>
            <a:off x="1414130" y="1148317"/>
            <a:ext cx="9579936" cy="4647426"/>
          </a:xfrm>
          <a:prstGeom prst="rect">
            <a:avLst/>
          </a:prstGeom>
          <a:noFill/>
        </p:spPr>
        <p:txBody>
          <a:bodyPr wrap="square" rtlCol="0">
            <a:spAutoFit/>
          </a:bodyPr>
          <a:lstStyle/>
          <a:p>
            <a:r>
              <a:rPr lang="en-US" sz="1600" b="1" dirty="0"/>
              <a:t>D. Forecasting &amp; Analytical Roadmap</a:t>
            </a:r>
          </a:p>
          <a:p>
            <a:endParaRPr lang="en-US" sz="1600" dirty="0"/>
          </a:p>
          <a:p>
            <a:r>
              <a:rPr lang="en-US" sz="1600" dirty="0"/>
              <a:t>Use 2018–2019 as the clean forecasting base</a:t>
            </a:r>
          </a:p>
          <a:p>
            <a:endParaRPr lang="en-US" sz="1600" dirty="0"/>
          </a:p>
          <a:p>
            <a:r>
              <a:rPr lang="en-US" sz="1600" dirty="0"/>
              <a:t>Build a monthly demand forecasting model</a:t>
            </a:r>
          </a:p>
          <a:p>
            <a:endParaRPr lang="en-US" sz="1600" dirty="0"/>
          </a:p>
          <a:p>
            <a:r>
              <a:rPr lang="en-US" sz="1600" dirty="0"/>
              <a:t>Perform ADR sensitivity testing</a:t>
            </a:r>
          </a:p>
          <a:p>
            <a:endParaRPr lang="en-US" sz="1600" dirty="0"/>
          </a:p>
          <a:p>
            <a:r>
              <a:rPr lang="en-US" sz="1600" dirty="0"/>
              <a:t>Run segment profitability analysis to identify weak-performing discount groups</a:t>
            </a:r>
          </a:p>
          <a:p>
            <a:endParaRPr lang="en-US" sz="1600" dirty="0"/>
          </a:p>
          <a:p>
            <a:endParaRPr lang="en-US" sz="1600" dirty="0"/>
          </a:p>
          <a:p>
            <a:endParaRPr lang="en-US" sz="1600" dirty="0"/>
          </a:p>
          <a:p>
            <a:endParaRPr lang="en-US" sz="1600" dirty="0"/>
          </a:p>
          <a:p>
            <a:endParaRPr lang="en-US" sz="1600" dirty="0"/>
          </a:p>
          <a:p>
            <a:endParaRPr lang="en-US" sz="1600" dirty="0"/>
          </a:p>
          <a:p>
            <a:r>
              <a:rPr lang="en-US" sz="4000" dirty="0" err="1"/>
              <a:t>DashBoard</a:t>
            </a:r>
            <a:r>
              <a:rPr lang="en-US" sz="4000" dirty="0"/>
              <a:t> of the Hotel data Analysis :</a:t>
            </a:r>
          </a:p>
          <a:p>
            <a:endParaRPr lang="en-US" sz="1600" b="1" dirty="0"/>
          </a:p>
        </p:txBody>
      </p:sp>
    </p:spTree>
    <p:extLst>
      <p:ext uri="{BB962C8B-B14F-4D97-AF65-F5344CB8AC3E}">
        <p14:creationId xmlns:p14="http://schemas.microsoft.com/office/powerpoint/2010/main" val="3584053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E4764B8-525D-F300-7124-7DAF9C9114B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46929" y="304207"/>
            <a:ext cx="8898142" cy="6249586"/>
          </a:xfrm>
          <a:prstGeom prst="rect">
            <a:avLst/>
          </a:prstGeom>
        </p:spPr>
      </p:pic>
    </p:spTree>
    <p:extLst>
      <p:ext uri="{BB962C8B-B14F-4D97-AF65-F5344CB8AC3E}">
        <p14:creationId xmlns:p14="http://schemas.microsoft.com/office/powerpoint/2010/main" val="6120010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23DCE52-0871-B89C-B48E-BE5E35ECCDE1}"/>
              </a:ext>
            </a:extLst>
          </p:cNvPr>
          <p:cNvSpPr/>
          <p:nvPr/>
        </p:nvSpPr>
        <p:spPr>
          <a:xfrm>
            <a:off x="471377" y="398721"/>
            <a:ext cx="11249246" cy="6060557"/>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IN"/>
          </a:p>
        </p:txBody>
      </p:sp>
      <p:sp>
        <p:nvSpPr>
          <p:cNvPr id="6" name="TextBox 5">
            <a:extLst>
              <a:ext uri="{FF2B5EF4-FFF2-40B4-BE49-F238E27FC236}">
                <a16:creationId xmlns:a16="http://schemas.microsoft.com/office/drawing/2014/main" id="{4A01EFBD-247F-986E-2365-29307BCDB76D}"/>
              </a:ext>
            </a:extLst>
          </p:cNvPr>
          <p:cNvSpPr txBox="1"/>
          <p:nvPr/>
        </p:nvSpPr>
        <p:spPr>
          <a:xfrm>
            <a:off x="627321" y="574158"/>
            <a:ext cx="10919636" cy="5324535"/>
          </a:xfrm>
          <a:prstGeom prst="rect">
            <a:avLst/>
          </a:prstGeom>
          <a:noFill/>
        </p:spPr>
        <p:txBody>
          <a:bodyPr wrap="square" rtlCol="0">
            <a:spAutoFit/>
          </a:bodyPr>
          <a:lstStyle/>
          <a:p>
            <a:r>
              <a:rPr lang="en-US" sz="2000" b="1" dirty="0"/>
              <a:t>Conclusion :</a:t>
            </a:r>
          </a:p>
          <a:p>
            <a:r>
              <a:rPr lang="en-US" sz="2000" dirty="0"/>
              <a:t>This project gave me the opportunity to build a complete end-to-end analytics workflow — starting from raw Excel files and progressing through SQL-based data engineering, automated metric calculation, and interactive dashboard development in Power BI. Through this process, I was able to extract meaningful insights that directly support hotel business decision-making.</a:t>
            </a:r>
          </a:p>
          <a:p>
            <a:r>
              <a:rPr lang="en-US" sz="2000" dirty="0"/>
              <a:t>From my analysis, I found clear revenue patterns between hotel types, a reliable assessment of parking space utilization, and strong signals around ADR trends and seasonality. These insights helped me understand how operational data translates into strategic decisions such as pricing, infrastructure investment, and segment targeting.</a:t>
            </a:r>
          </a:p>
          <a:p>
            <a:r>
              <a:rPr lang="en-US" sz="2000" dirty="0"/>
              <a:t>Beyond the business findings, this project also strengthened several of my core data skills. I learned how to design a structured SQL pipeline, build reproducible CTE-based transformations, apply realistic revenue calculations using discount logic, and translate raw metrics into an executive-level dashboard. It also improved my ability to interpret trends, validate assumptions, and present insights in a format that supports real-world decision-making.</a:t>
            </a:r>
          </a:p>
          <a:p>
            <a:r>
              <a:rPr lang="en-US" sz="2000" dirty="0"/>
              <a:t>Overall, this work demonstrates my ability to handle the full spectrum of a data analytics project — from cleaning and modeling to visualization and strategic recommendations — while ensuring that every insight is grounded in data, clarity, and business value.</a:t>
            </a:r>
          </a:p>
        </p:txBody>
      </p:sp>
    </p:spTree>
    <p:extLst>
      <p:ext uri="{BB962C8B-B14F-4D97-AF65-F5344CB8AC3E}">
        <p14:creationId xmlns:p14="http://schemas.microsoft.com/office/powerpoint/2010/main" val="378539226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D6E0603-4A3F-72E9-FB9A-DC2C3464613B}"/>
              </a:ext>
            </a:extLst>
          </p:cNvPr>
          <p:cNvSpPr txBox="1"/>
          <p:nvPr/>
        </p:nvSpPr>
        <p:spPr>
          <a:xfrm>
            <a:off x="1967023" y="1414132"/>
            <a:ext cx="8495414" cy="3600986"/>
          </a:xfrm>
          <a:prstGeom prst="rect">
            <a:avLst/>
          </a:prstGeom>
          <a:noFill/>
        </p:spPr>
        <p:txBody>
          <a:bodyPr wrap="square" rtlCol="0">
            <a:spAutoFit/>
          </a:bodyPr>
          <a:lstStyle/>
          <a:p>
            <a:r>
              <a:rPr lang="en-US" sz="3200" dirty="0"/>
              <a:t>Author &amp; Contact :</a:t>
            </a:r>
          </a:p>
          <a:p>
            <a:endParaRPr lang="en-US" sz="3200" dirty="0"/>
          </a:p>
          <a:p>
            <a:r>
              <a:rPr lang="en-US" sz="3200" dirty="0"/>
              <a:t>Shreeganesh Bhat</a:t>
            </a:r>
          </a:p>
          <a:p>
            <a:r>
              <a:rPr lang="en-IN" sz="2000" dirty="0" err="1"/>
              <a:t>Linkedin</a:t>
            </a:r>
            <a:r>
              <a:rPr lang="en-IN" sz="2000" dirty="0"/>
              <a:t> - </a:t>
            </a:r>
            <a:r>
              <a:rPr lang="en-IN" sz="2000" dirty="0">
                <a:hlinkClick r:id="rId2"/>
              </a:rPr>
              <a:t>https://www.linkedin.com/in/shreeganesh-bhat-8a8184398?utm_source=share&amp;utm_campaign=share_via&amp;utm_content=profile&amp;utm_medium=android_app</a:t>
            </a:r>
            <a:endParaRPr lang="en-IN" sz="2000" dirty="0"/>
          </a:p>
          <a:p>
            <a:r>
              <a:rPr lang="en-IN" sz="2000" dirty="0" err="1"/>
              <a:t>Github</a:t>
            </a:r>
            <a:r>
              <a:rPr lang="en-IN" sz="2000" dirty="0"/>
              <a:t> –</a:t>
            </a:r>
          </a:p>
          <a:p>
            <a:r>
              <a:rPr lang="en-IN" sz="2000" dirty="0">
                <a:hlinkClick r:id="rId3"/>
              </a:rPr>
              <a:t>https://github.com/shriganeshbhat0-git</a:t>
            </a:r>
            <a:endParaRPr lang="en-IN" sz="2000" dirty="0"/>
          </a:p>
          <a:p>
            <a:endParaRPr lang="en-IN" sz="3200" dirty="0"/>
          </a:p>
        </p:txBody>
      </p:sp>
    </p:spTree>
    <p:extLst>
      <p:ext uri="{BB962C8B-B14F-4D97-AF65-F5344CB8AC3E}">
        <p14:creationId xmlns:p14="http://schemas.microsoft.com/office/powerpoint/2010/main" val="5071209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8517619-C033-EEDC-A47B-1FC52B15CB76}"/>
              </a:ext>
            </a:extLst>
          </p:cNvPr>
          <p:cNvSpPr txBox="1"/>
          <p:nvPr/>
        </p:nvSpPr>
        <p:spPr>
          <a:xfrm>
            <a:off x="3048886" y="3244334"/>
            <a:ext cx="6097772" cy="1107996"/>
          </a:xfrm>
          <a:prstGeom prst="rect">
            <a:avLst/>
          </a:prstGeom>
          <a:noFill/>
        </p:spPr>
        <p:txBody>
          <a:bodyPr wrap="square">
            <a:spAutoFit/>
          </a:bodyPr>
          <a:lstStyle/>
          <a:p>
            <a:r>
              <a:rPr lang="en-US" sz="6600" dirty="0">
                <a:latin typeface="Segoe UI Black" panose="020B0A02040204020203" pitchFamily="34" charset="0"/>
                <a:ea typeface="Segoe UI Black" panose="020B0A02040204020203" pitchFamily="34" charset="0"/>
              </a:rPr>
              <a:t>Thank You 💐</a:t>
            </a:r>
            <a:endParaRPr lang="en-IN" sz="6600" dirty="0">
              <a:latin typeface="Segoe UI Black" panose="020B0A02040204020203" pitchFamily="34" charset="0"/>
              <a:ea typeface="Segoe UI Black" panose="020B0A02040204020203" pitchFamily="34" charset="0"/>
            </a:endParaRPr>
          </a:p>
        </p:txBody>
      </p:sp>
    </p:spTree>
    <p:extLst>
      <p:ext uri="{BB962C8B-B14F-4D97-AF65-F5344CB8AC3E}">
        <p14:creationId xmlns:p14="http://schemas.microsoft.com/office/powerpoint/2010/main" val="383293894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969</Words>
  <Application>Microsoft Office PowerPoint</Application>
  <PresentationFormat>Widescreen</PresentationFormat>
  <Paragraphs>112</Paragraphs>
  <Slides>14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Arial Black</vt:lpstr>
      <vt:lpstr>Calibri</vt:lpstr>
      <vt:lpstr>Calibri Light</vt:lpstr>
      <vt:lpstr>Segoe UI Black</vt:lpstr>
      <vt:lpstr>Office Theme</vt:lpstr>
      <vt:lpstr>PowerPoint Presentation</vt:lpstr>
      <vt:lpstr>Hotel Booking Data Analysis Report (2018–2020) Comprehensive Data Analyst Portfolio Project Executive Summary This project delivers a complete end-to-end analytical solution using hotel booking data from 2018 to 2020, answering core business questions related to revenue performance, parking infrastructure planning, and market trends. Data transformation and querying were performed in Microsoft SQL Server Management Studio (SSMS), and insights were visualized in Power BI using an interactive dashboard. Key findings include: Strong revenue growth between 2018 and 2019 Parking utilization consistently 2%–3%, indicating no expansion needed ADR shows a steady upward trend, supporting profitable pricing Clear seasonality patterns, beneficial for forecasting This report provides strategic recommendations in pricing, operations, and forecasting.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Shreeganesh Bhat</dc:creator>
  <cp:lastModifiedBy>Shreeganesh Bhat</cp:lastModifiedBy>
  <cp:revision>2</cp:revision>
  <dcterms:created xsi:type="dcterms:W3CDTF">2025-12-02T06:51:06Z</dcterms:created>
  <dcterms:modified xsi:type="dcterms:W3CDTF">2025-12-02T06:54:54Z</dcterms:modified>
</cp:coreProperties>
</file>